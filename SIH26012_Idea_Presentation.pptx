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C5AA0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18288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A580C"/>
                </a:solidFill>
                <a:latin typeface="Arial Black"/>
              </a:defRPr>
            </a:pPr>
            <a:r>
              <a:t>SMART INDIA</a:t>
            </a:r>
          </a:p>
          <a:p>
            <a:pPr algn="r">
              <a:defRPr sz="1100">
                <a:solidFill>
                  <a:srgbClr val="0F2240"/>
                </a:solidFill>
                <a:latin typeface="Arial Black"/>
              </a:defRPr>
            </a:pPr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2240"/>
                </a:solidFill>
                <a:latin typeface="Arial Black"/>
              </a:defRPr>
            </a:pPr>
            <a:r>
              <a:t>TITLE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F2240"/>
                </a:solidFill>
                <a:latin typeface="Arial"/>
              </a:rPr>
              <a:t>• Problem Statement ID –</a:t>
            </a:r>
            <a:r>
              <a:rPr sz="1800">
                <a:solidFill>
                  <a:srgbClr val="1E293B"/>
                </a:solidFill>
                <a:latin typeface="Arial"/>
              </a:rPr>
              <a:t> SIH26012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2240"/>
                </a:solidFill>
                <a:latin typeface="Arial"/>
              </a:rPr>
              <a:t>• Problem Statement Title –</a:t>
            </a:r>
            <a:r>
              <a:rPr sz="1800">
                <a:solidFill>
                  <a:srgbClr val="1E293B"/>
                </a:solidFill>
                <a:latin typeface="Arial"/>
              </a:rPr>
              <a:t> Automated Cadastral Feature Extraction &amp; Urban Parcel Mapping System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2240"/>
                </a:solidFill>
                <a:latin typeface="Arial"/>
              </a:rPr>
              <a:t>• Theme –</a:t>
            </a:r>
            <a:r>
              <a:rPr sz="1800">
                <a:solidFill>
                  <a:srgbClr val="1E293B"/>
                </a:solidFill>
                <a:latin typeface="Arial"/>
              </a:rPr>
              <a:t> Geospatial Technology / Smart Cities / Land Governance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2240"/>
                </a:solidFill>
                <a:latin typeface="Arial"/>
              </a:rPr>
              <a:t>• PS Category –</a:t>
            </a:r>
            <a:r>
              <a:rPr sz="1800">
                <a:solidFill>
                  <a:srgbClr val="1E293B"/>
                </a:solidFill>
                <a:latin typeface="Arial"/>
              </a:rPr>
              <a:t> Software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2240"/>
                </a:solidFill>
                <a:latin typeface="Arial"/>
              </a:rPr>
              <a:t>• Team ID –</a:t>
            </a:r>
            <a:r>
              <a:rPr sz="1800">
                <a:solidFill>
                  <a:srgbClr val="1E293B"/>
                </a:solidFill>
                <a:latin typeface="Arial"/>
              </a:rPr>
              <a:t> 69110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2240"/>
                </a:solidFill>
                <a:latin typeface="Arial"/>
              </a:rPr>
              <a:t>• Team Name :-</a:t>
            </a:r>
            <a:r>
              <a:rPr sz="1800">
                <a:solidFill>
                  <a:srgbClr val="1E293B"/>
                </a:solidFill>
                <a:latin typeface="Arial"/>
              </a:rPr>
              <a:t> SkyGen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F2240"/>
                </a:solidFill>
                <a:latin typeface="Arial"/>
              </a:rPr>
              <a:t>• College Name :-</a:t>
            </a:r>
            <a:r>
              <a:rPr sz="1800">
                <a:solidFill>
                  <a:srgbClr val="1E293B"/>
                </a:solidFill>
                <a:latin typeface="Arial"/>
              </a:rPr>
              <a:t> [Your College / Institute Name Here]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4747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1C5AA0"/>
                </a:solidFill>
                <a:latin typeface="Arial Black"/>
              </a:defRPr>
            </a:pPr>
            <a:r>
              <a:t>CadastreVision-AI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0F2240"/>
                </a:solidFill>
                <a:latin typeface="Arial"/>
              </a:defRPr>
            </a:pPr>
            <a:r>
              <a:t>Automated Land Boundary &amp;</a:t>
            </a:r>
            <a:br/>
            <a:r>
              <a:t>Urban Parcel Extraction</a:t>
            </a:r>
          </a:p>
          <a:p>
            <a:pPr algn="l">
              <a:spcBef>
                <a:spcPts val="8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🧠 12.38M Full CadastreUNet</a:t>
            </a:r>
          </a:p>
          <a:p>
            <a:pPr algn="l">
              <a:spcBef>
                <a:spcPts val="8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🌐 Sub-Meter (0.25m) Aerial Imagery</a:t>
            </a:r>
          </a:p>
          <a:p>
            <a:pPr algn="l">
              <a:spcBef>
                <a:spcPts val="8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🗺️ Continuous Solid Cyan Lines</a:t>
            </a:r>
          </a:p>
          <a:p>
            <a:pPr algn="l">
              <a:spcBef>
                <a:spcPts val="8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📐 Closed Property Parcel Polygons</a:t>
            </a:r>
          </a:p>
          <a:p>
            <a:pPr algn="l">
              <a:spcBef>
                <a:spcPts val="8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⚖️ ISO 19107 Topology Audit Engine</a:t>
            </a:r>
          </a:p>
          <a:p>
            <a:pPr algn="l">
              <a:spcBef>
                <a:spcPts val="8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🚀 94.43% Pixel Accuracy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2240"/>
                </a:solidFill>
                <a:latin typeface="Arial"/>
              </a:defRPr>
            </a:pPr>
            <a:r>
              <a:t>SkyGen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82880"/>
            <a:ext cx="7619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2240"/>
                </a:solidFill>
                <a:latin typeface="Georgia"/>
              </a:defRPr>
            </a:pPr>
            <a:r>
              <a:t>IDEA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64592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A580C"/>
                </a:solidFill>
                <a:latin typeface="Arial Black"/>
              </a:defRPr>
            </a:pPr>
            <a:r>
              <a:t>SMART INDIA</a:t>
            </a:r>
          </a:p>
          <a:p>
            <a:pPr algn="r">
              <a:defRPr sz="1000">
                <a:solidFill>
                  <a:srgbClr val="0F2240"/>
                </a:solidFill>
                <a:latin typeface="Arial Black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240"/>
                </a:solidFill>
                <a:latin typeface="Arial"/>
              </a:defRPr>
            </a:pPr>
            <a:r>
              <a:t>CadastreVision — Automated Cadastral Feature Extraction &amp; Urban Parcel Mapping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5AA0"/>
                </a:solidFill>
                <a:latin typeface="Arial Black"/>
              </a:defRPr>
            </a:pPr>
            <a:r>
              <a:t>Proposed Solution :-</a:t>
            </a:r>
          </a:p>
          <a:p>
            <a:pPr>
              <a:spcAft>
                <a:spcPts val="800"/>
              </a:spcAft>
              <a:defRPr sz="1050" b="1">
                <a:solidFill>
                  <a:srgbClr val="1E293B"/>
                </a:solidFill>
                <a:latin typeface="Arial"/>
              </a:defRPr>
            </a:pPr>
            <a:r>
              <a:t>A Deep Learning Geospatial Platform powered by PMG + MixStyle + Directional Affinity for Survey-Grade Parcel Mapping &amp; Title Verification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0F2240"/>
                </a:solidFill>
                <a:latin typeface="Arial"/>
              </a:rPr>
              <a:t>• Sub-Meter Boundary Extraction Hub:-</a:t>
            </a:r>
            <a:r>
              <a:rPr sz="900">
                <a:solidFill>
                  <a:srgbClr val="1E293B"/>
                </a:solidFill>
                <a:latin typeface="Arial"/>
              </a:rPr>
              <a:t> Automated inference from 0.25m GSD high-resolution aerial imagery via CadastreUNetFull (12.38M params) capturing micro-fences and long borders.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0F2240"/>
                </a:solidFill>
                <a:latin typeface="Arial"/>
              </a:rPr>
              <a:t>• Continuous Solid Cadastral Borders:-</a:t>
            </a:r>
            <a:r>
              <a:rPr sz="900">
                <a:solidFill>
                  <a:srgbClr val="1E293B"/>
                </a:solidFill>
                <a:latin typeface="Arial"/>
              </a:rPr>
              <a:t> 8-way directional connectivity head &amp; 1.8m endpoint snapping eliminate dotted/dashed artifacts, producing 100% continuous solid borders.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0F2240"/>
                </a:solidFill>
                <a:latin typeface="Arial"/>
              </a:rPr>
              <a:t>• Closed Cadastral Parcel Polygonizer:-</a:t>
            </a:r>
            <a:r>
              <a:rPr sz="900">
                <a:solidFill>
                  <a:srgbClr val="1E293B"/>
                </a:solidFill>
                <a:latin typeface="Arial"/>
              </a:rPr>
              <a:t> Interior contour polygonization automatically extracts closed residential property plots, calculating exact land area (m²) and perimeter (m).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0F2240"/>
                </a:solidFill>
                <a:latin typeface="Arial"/>
              </a:rPr>
              <a:t>• ISO 19107 Real-Time Topology Validator:-</a:t>
            </a:r>
            <a:r>
              <a:rPr sz="900">
                <a:solidFill>
                  <a:srgbClr val="1E293B"/>
                </a:solidFill>
                <a:latin typeface="Arial"/>
              </a:rPr>
              <a:t> Spatial STRtree index audits vector lines against OGC standards, guaranteeing 0 self-intersections and 0 invalid shapes.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0F2240"/>
                </a:solidFill>
                <a:latin typeface="Arial"/>
              </a:rPr>
              <a:t>• Human-in-the-Loop Surveyor Deck:-</a:t>
            </a:r>
            <a:r>
              <a:rPr sz="900">
                <a:solidFill>
                  <a:srgbClr val="1E293B"/>
                </a:solidFill>
                <a:latin typeface="Arial"/>
              </a:rPr>
              <a:t> Interactive WebGIS enables revenue surveyors to inspect, edit, and click '✓ Approve Feature' before committing legal property boundaries.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0F2240"/>
                </a:solidFill>
                <a:latin typeface="Arial"/>
              </a:rPr>
              <a:t>• One-Click GIS Vector Export:-</a:t>
            </a:r>
            <a:r>
              <a:rPr sz="900">
                <a:solidFill>
                  <a:srgbClr val="1E293B"/>
                </a:solidFill>
                <a:latin typeface="Arial"/>
              </a:rPr>
              <a:t> Direct survey-grade GeoJSON export fully compatible with QGIS, ArcGIS, and national land registries (SVAMITVA, Bhoomi, BRK).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280160"/>
            <a:ext cx="484632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C5AA0"/>
                </a:solidFill>
                <a:latin typeface="Arial Black"/>
              </a:defRPr>
            </a:pPr>
            <a:r>
              <a:t>SYSTEM ARCHITECTURE &amp; FLOW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3B82F6"/>
                </a:solidFill>
                <a:latin typeface="Arial"/>
              </a:rPr>
              <a:t>👥 TARGET USERS
</a:t>
            </a:r>
            <a:r>
              <a:rPr sz="850">
                <a:solidFill>
                  <a:srgbClr val="1E293B"/>
                </a:solidFill>
                <a:latin typeface="Arial"/>
              </a:rPr>
              <a:t>Revenue Surveyors, Town Planners, Land Registries (SVAMITVA), Property Owners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D9488"/>
                </a:solidFill>
                <a:latin typeface="Arial"/>
              </a:rPr>
              <a:t>🖥️ UI LAYER (WebGIS)
</a:t>
            </a:r>
            <a:r>
              <a:rPr sz="850">
                <a:solidFill>
                  <a:srgbClr val="1E293B"/>
                </a:solidFill>
                <a:latin typeface="Arial"/>
              </a:rPr>
              <a:t>Leaflet 1.9.4 Map, Tailwind CSS Controls, Real-time Overlays, SVG Renderers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EA580C"/>
                </a:solidFill>
                <a:latin typeface="Arial"/>
              </a:rPr>
              <a:t>⚡ BACKEND SERVICES
</a:t>
            </a:r>
            <a:r>
              <a:rPr sz="850">
                <a:solidFill>
                  <a:srgbClr val="1E293B"/>
                </a:solidFill>
                <a:latin typeface="Arial"/>
              </a:rPr>
              <a:t>FastAPI REST API, /api/predict, /api/vectorize, /api/topology-audit, Layer Engine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8B5CF6"/>
                </a:solidFill>
                <a:latin typeface="Arial"/>
              </a:rPr>
              <a:t>🧠 AI / ML ENGINE
</a:t>
            </a:r>
            <a:r>
              <a:rPr sz="850">
                <a:solidFill>
                  <a:srgbClr val="1E293B"/>
                </a:solidFill>
                <a:latin typeface="Arial"/>
              </a:rPr>
              <a:t>CadastreUNetFull: PMG Multiscale (d=1,2,4) + MixStyle DG + 8-Way Connectivity Head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0B981"/>
                </a:solidFill>
                <a:latin typeface="Arial"/>
              </a:rPr>
              <a:t>📐 COMPUTATIONAL GIS
</a:t>
            </a:r>
            <a:r>
              <a:rPr sz="850">
                <a:solidFill>
                  <a:srgbClr val="1E293B"/>
                </a:solidFill>
                <a:latin typeface="Arial"/>
              </a:rPr>
              <a:t>Guo-Hall Thinning, NetworkX Graph Tracing, Douglas-Peucker (ε=0.35m), STRtree Audit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2240"/>
                </a:solidFill>
                <a:latin typeface="Arial"/>
              </a:rPr>
              <a:t>💾 OUTPUT / STORAGE
</a:t>
            </a:r>
            <a:r>
              <a:rPr sz="850">
                <a:solidFill>
                  <a:srgbClr val="1E293B"/>
                </a:solidFill>
                <a:latin typeface="Arial"/>
              </a:rPr>
              <a:t>Survey-Grade GeoJSON, ESRI Shapefile, Closed Parcel Plots (m²), GeoPackage Catalog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2240"/>
                </a:solidFill>
                <a:latin typeface="Arial"/>
              </a:defRPr>
            </a:pPr>
            <a:r>
              <a:t>SkyGen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82880"/>
            <a:ext cx="7619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2240"/>
                </a:solidFill>
                <a:latin typeface="Georgia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64592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A580C"/>
                </a:solidFill>
                <a:latin typeface="Arial Black"/>
              </a:defRPr>
            </a:pPr>
            <a:r>
              <a:t>SMART INDIA</a:t>
            </a:r>
          </a:p>
          <a:p>
            <a:pPr algn="r">
              <a:defRPr sz="1000">
                <a:solidFill>
                  <a:srgbClr val="0F2240"/>
                </a:solidFill>
                <a:latin typeface="Arial Black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6583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C5AA0"/>
                </a:solidFill>
                <a:latin typeface="Arial Black"/>
              </a:defRPr>
            </a:pPr>
            <a:r>
              <a:t>Technologies to be Used:-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0F2240"/>
                </a:solidFill>
                <a:latin typeface="Arial"/>
              </a:rPr>
              <a:t>• Frontend:-</a:t>
            </a:r>
            <a:r>
              <a:rPr sz="900">
                <a:solidFill>
                  <a:srgbClr val="1E293B"/>
                </a:solidFill>
                <a:latin typeface="Arial"/>
              </a:rPr>
              <a:t> Leaflet.js 1.9.4, Tailwind CSS, HTML5 Canvas, Lucide Icons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0F2240"/>
                </a:solidFill>
                <a:latin typeface="Arial"/>
              </a:rPr>
              <a:t>• Backend:-</a:t>
            </a:r>
            <a:r>
              <a:rPr sz="900">
                <a:solidFill>
                  <a:srgbClr val="1E293B"/>
                </a:solidFill>
                <a:latin typeface="Arial"/>
              </a:rPr>
              <a:t> FastAPI, Uvicorn (ASGI Server), Pydantic v2, Python 3.10+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0F2240"/>
                </a:solidFill>
                <a:latin typeface="Arial"/>
              </a:rPr>
              <a:t>• GIS &amp; Geometry:-</a:t>
            </a:r>
            <a:r>
              <a:rPr sz="900">
                <a:solidFill>
                  <a:srgbClr val="1E293B"/>
                </a:solidFill>
                <a:latin typeface="Arial"/>
              </a:rPr>
              <a:t> GeoPandas, Shapely 2.0+, Rasterio, NetworkX, OpenCV, PyProj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0F2240"/>
                </a:solidFill>
                <a:latin typeface="Arial"/>
              </a:rPr>
              <a:t>• AI / Deep Learning:-</a:t>
            </a:r>
            <a:r>
              <a:rPr sz="900">
                <a:solidFill>
                  <a:srgbClr val="1E293B"/>
                </a:solidFill>
                <a:latin typeface="Arial"/>
              </a:rPr>
              <a:t> PyTorch 2.0+, Torchvision, AdamW, Cosine Annealing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0F2240"/>
                </a:solidFill>
                <a:latin typeface="Arial"/>
              </a:rPr>
              <a:t>• CRS &amp; Projections:-</a:t>
            </a:r>
            <a:r>
              <a:rPr sz="900">
                <a:solidFill>
                  <a:srgbClr val="1E293B"/>
                </a:solidFill>
                <a:latin typeface="Arial"/>
              </a:rPr>
              <a:t> EPSG:28992 (Dutch Metric RD New) ↔ EPSG:4326 (WGS84)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0F2240"/>
                </a:solidFill>
                <a:latin typeface="Arial"/>
              </a:rPr>
              <a:t>• Cloud &amp; Infra:-</a:t>
            </a:r>
            <a:r>
              <a:rPr sz="900">
                <a:solidFill>
                  <a:srgbClr val="1E293B"/>
                </a:solidFill>
                <a:latin typeface="Arial"/>
              </a:rPr>
              <a:t> NVIDIA A100 GPU, Apple Silicon Metal (MPS), Docker, Google Colab Pro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0F2240"/>
                </a:solidFill>
                <a:latin typeface="Arial"/>
              </a:rPr>
              <a:t>• Integrations:-</a:t>
            </a:r>
            <a:r>
              <a:rPr sz="900">
                <a:solidFill>
                  <a:srgbClr val="1E293B"/>
                </a:solidFill>
                <a:latin typeface="Arial"/>
              </a:rPr>
              <a:t> QGIS, ArcGIS, SVAMITVA / Bhoomi APIs, ESRI Satellite Basemap</a:t>
            </a:r>
          </a:p>
          <a:p>
            <a:pPr>
              <a:spcBef>
                <a:spcPts val="800"/>
              </a:spcBef>
              <a:defRPr sz="1300">
                <a:solidFill>
                  <a:srgbClr val="1C5AA0"/>
                </a:solidFill>
                <a:latin typeface="Arial Black"/>
              </a:defRPr>
            </a:pPr>
            <a:r>
              <a:t>Process Flow :-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  → 1. Aerial Tile Acquisition (0.25m GSD)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  → 2. Windowed 512×512 Patch Extraction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  → 3. PMG Multiscale Dilated Encoding (d=1,2,4)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  → 4. MixStyle Domain Generalization (Beta 0.2)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  → 5. Dual Heads (Boundary + 8-Way Affinity)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  → 6. Medial-Axis Thinning &amp; Graph Tracing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  → 7. Closed Parcel Polygonization (Area/Perim)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  → 8. ISO 19107 STRtree Topology Audit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  → 9. Interactive WebGIS &amp; One-Click GeoJSON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257800"/>
            <a:ext cx="6583680" cy="105156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1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2240"/>
                </a:solidFill>
                <a:latin typeface="Arial Black"/>
              </a:defRPr>
            </a:pPr>
            <a:r>
              <a:t>• Project Links Demo:-</a:t>
            </a:r>
          </a:p>
          <a:p>
            <a:pPr>
              <a:defRPr sz="1000" b="1">
                <a:solidFill>
                  <a:srgbClr val="1C5AA0"/>
                </a:solidFill>
                <a:latin typeface="Arial"/>
              </a:defRPr>
            </a:pPr>
            <a:r>
              <a:t>• Github: https://github.com/SkyGen/CadastreVision</a:t>
            </a:r>
          </a:p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• Demo Live Prototype : https://cadastre.skygen.site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005840"/>
            <a:ext cx="448056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C5AA0"/>
                </a:solidFill>
                <a:latin typeface="Arial Black"/>
              </a:defRPr>
            </a:pPr>
            <a:r>
              <a:t>CORE MODULE STACK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EA5E9"/>
                </a:solidFill>
                <a:latin typeface="Arial"/>
              </a:rPr>
              <a:t>▪ FRONTEND
</a:t>
            </a:r>
            <a:r>
              <a:rPr sz="850">
                <a:solidFill>
                  <a:srgbClr val="1E293B"/>
                </a:solidFill>
                <a:latin typeface="Arial"/>
              </a:rPr>
              <a:t>Leaflet 1.9.4 | Tailwind CSS | HTML5 Canvas
ESRI World Imagery | Lucide GIS Icons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0B981"/>
                </a:solidFill>
                <a:latin typeface="Arial"/>
              </a:rPr>
              <a:t>▪ BACKEND
</a:t>
            </a:r>
            <a:r>
              <a:rPr sz="850">
                <a:solidFill>
                  <a:srgbClr val="1E293B"/>
                </a:solidFill>
                <a:latin typeface="Arial"/>
              </a:rPr>
              <a:t>FastAPI (Python 3.10+) | Uvicorn ASGI
Pydantic v2 | In-Memory Tile Caching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A855F7"/>
                </a:solidFill>
                <a:latin typeface="Arial"/>
              </a:rPr>
              <a:t>▪ AI / ML MODELS
</a:t>
            </a:r>
            <a:r>
              <a:rPr sz="850">
                <a:solidFill>
                  <a:srgbClr val="1E293B"/>
                </a:solidFill>
                <a:latin typeface="Arial"/>
              </a:rPr>
              <a:t>CadastreUNetFull (12.38M Params)
PMG Dilated Module (d=1,2,4) | MixStyle DG
8-Way Connectivity Head | Balanced Focal+Dice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EA580C"/>
                </a:solidFill>
                <a:latin typeface="Arial"/>
              </a:rPr>
              <a:t>▪ COMPUTATIONAL GIS
</a:t>
            </a:r>
            <a:r>
              <a:rPr sz="850">
                <a:solidFill>
                  <a:srgbClr val="1E293B"/>
                </a:solidFill>
                <a:latin typeface="Arial"/>
              </a:rPr>
              <a:t>Shapely 2.0 STRtree | GeoPandas 0.13+
NetworkX 3.0 Graph Tracing | Rasterio 1.3+
Guo-Hall Thinning | Douglas-Peucker (ε=0.35m)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3B82F6"/>
                </a:solidFill>
                <a:latin typeface="Arial"/>
              </a:rPr>
              <a:t>▪ CLOUD &amp; INFRA
</a:t>
            </a:r>
            <a:r>
              <a:rPr sz="850">
                <a:solidFill>
                  <a:srgbClr val="1E293B"/>
                </a:solidFill>
                <a:latin typeface="Arial"/>
              </a:rPr>
              <a:t>NVIDIA A100 SXM4 (40GB VRAM)
Apple Silicon MPS (Metal) | Docker Container
Google Colab Pro Standalone Bundle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2240"/>
                </a:solidFill>
                <a:latin typeface="Arial"/>
              </a:rPr>
              <a:t>▪ DATASET &amp; BENCHMARKS
</a:t>
            </a:r>
            <a:r>
              <a:rPr sz="850">
                <a:solidFill>
                  <a:srgbClr val="1E293B"/>
                </a:solidFill>
                <a:latin typeface="Arial"/>
              </a:rPr>
              <a:t>CadastreVision-SIH26012 (900 km² Coverage)
9 GeoTIFF Tiles (0.25m GSD, EPSG:28992)
3,700 Patches (2500 Train, 600 Val, 600 Test)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2240"/>
                </a:solidFill>
                <a:latin typeface="Arial"/>
              </a:defRPr>
            </a:pPr>
            <a:r>
              <a:t>SkyGen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82880"/>
            <a:ext cx="7619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2240"/>
                </a:solidFill>
                <a:latin typeface="Georgia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64592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A580C"/>
                </a:solidFill>
                <a:latin typeface="Arial Black"/>
              </a:defRPr>
            </a:pPr>
            <a:r>
              <a:t>SMART INDIA</a:t>
            </a:r>
          </a:p>
          <a:p>
            <a:pPr algn="r">
              <a:defRPr sz="1000">
                <a:solidFill>
                  <a:srgbClr val="0F2240"/>
                </a:solidFill>
                <a:latin typeface="Arial Black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C5AA0"/>
                </a:solidFill>
                <a:latin typeface="Arial Black"/>
              </a:defRPr>
            </a:pPr>
            <a:r>
              <a:t>Feasibility :-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Technical:</a:t>
            </a:r>
            <a:r>
              <a:rPr sz="800">
                <a:solidFill>
                  <a:srgbClr val="1E293B"/>
                </a:solidFill>
                <a:latin typeface="Arial"/>
              </a:rPr>
              <a:t>  Uses proven PyTorch/FastAPI/Shapely stack → high scalability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Economic:</a:t>
            </a:r>
            <a:r>
              <a:rPr sz="800">
                <a:solidFill>
                  <a:srgbClr val="1E293B"/>
                </a:solidFill>
                <a:latin typeface="Arial"/>
              </a:rPr>
              <a:t>  Zero proprietary software licensing → &gt;80% survey cost reduction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Operational:</a:t>
            </a:r>
            <a:r>
              <a:rPr sz="800">
                <a:solidFill>
                  <a:srgbClr val="1E293B"/>
                </a:solidFill>
                <a:latin typeface="Arial"/>
              </a:rPr>
              <a:t>  Lightweight browser UI, zero-install, field laptop compatible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Social:</a:t>
            </a:r>
            <a:r>
              <a:rPr sz="800">
                <a:solidFill>
                  <a:srgbClr val="1E293B"/>
                </a:solidFill>
                <a:latin typeface="Arial"/>
              </a:rPr>
              <a:t>  Formalizes rural property titles, eliminates land litigation</a:t>
            </a:r>
          </a:p>
          <a:p>
            <a:pPr>
              <a:spcBef>
                <a:spcPts val="400"/>
              </a:spcBef>
              <a:defRPr sz="1100">
                <a:solidFill>
                  <a:srgbClr val="1C5AA0"/>
                </a:solidFill>
                <a:latin typeface="Arial Black"/>
              </a:defRPr>
            </a:pPr>
            <a:r>
              <a:t>Potential Challenges :-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</a:t>
            </a:r>
            <a:r>
              <a:rPr sz="800">
                <a:solidFill>
                  <a:srgbClr val="1E293B"/>
                </a:solidFill>
                <a:latin typeface="Arial"/>
              </a:rPr>
              <a:t> Class imbalance with boundary lines &lt; 2.1% of patch pixels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</a:t>
            </a:r>
            <a:r>
              <a:rPr sz="800">
                <a:solidFill>
                  <a:srgbClr val="1E293B"/>
                </a:solidFill>
                <a:latin typeface="Arial"/>
              </a:rPr>
              <a:t> Invisible/sub-surface property boundaries without physical markers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</a:t>
            </a:r>
            <a:r>
              <a:rPr sz="800">
                <a:solidFill>
                  <a:srgbClr val="1E293B"/>
                </a:solidFill>
                <a:latin typeface="Arial"/>
              </a:rPr>
              <a:t> Cross-geographic terrain variations (differing soil, roof textures)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</a:t>
            </a:r>
            <a:r>
              <a:rPr sz="800">
                <a:solidFill>
                  <a:srgbClr val="1E293B"/>
                </a:solidFill>
                <a:latin typeface="Arial"/>
              </a:rPr>
              <a:t> Large multi-gigabyte aerial GeoTIFF I/O bottleneck</a:t>
            </a:r>
          </a:p>
          <a:p>
            <a:pPr>
              <a:spcBef>
                <a:spcPts val="400"/>
              </a:spcBef>
              <a:defRPr sz="1100">
                <a:solidFill>
                  <a:srgbClr val="1C5AA0"/>
                </a:solidFill>
                <a:latin typeface="Arial Black"/>
              </a:defRPr>
            </a:pPr>
            <a:r>
              <a:t>Mitigation Strategies :-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</a:t>
            </a:r>
            <a:r>
              <a:rPr sz="800">
                <a:solidFill>
                  <a:srgbClr val="1E293B"/>
                </a:solidFill>
                <a:latin typeface="Arial"/>
              </a:rPr>
              <a:t> Balanced Multi-Objective Loss (Focal α=0.75 + Dice + Conn w_pos=15.0)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</a:t>
            </a:r>
            <a:r>
              <a:rPr sz="800">
                <a:solidFill>
                  <a:srgbClr val="1E293B"/>
                </a:solidFill>
                <a:latin typeface="Arial"/>
              </a:rPr>
              <a:t> Human-in-the-loop review deck &amp; supporting building/road layers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</a:t>
            </a:r>
            <a:r>
              <a:rPr sz="800">
                <a:solidFill>
                  <a:srgbClr val="1E293B"/>
                </a:solidFill>
                <a:latin typeface="Arial"/>
              </a:rPr>
              <a:t> MixStyle Domain Generalization perturbing feature stats (Beta 0.2)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</a:t>
            </a:r>
            <a:r>
              <a:rPr sz="800">
                <a:solidFill>
                  <a:srgbClr val="1E293B"/>
                </a:solidFill>
                <a:latin typeface="Arial"/>
              </a:rPr>
              <a:t> Windowed lazy raster reads via Rasterio &amp; R-tree spatial indexing</a:t>
            </a:r>
          </a:p>
          <a:p>
            <a:pPr>
              <a:spcBef>
                <a:spcPts val="400"/>
              </a:spcBef>
              <a:defRPr sz="1100">
                <a:solidFill>
                  <a:srgbClr val="1C5AA0"/>
                </a:solidFill>
                <a:latin typeface="Arial Black"/>
              </a:defRPr>
            </a:pPr>
            <a:r>
              <a:t>Viability &amp; Business Potential :-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</a:t>
            </a:r>
            <a:r>
              <a:rPr sz="800">
                <a:solidFill>
                  <a:srgbClr val="1E293B"/>
                </a:solidFill>
                <a:latin typeface="Arial"/>
              </a:rPr>
              <a:t> Directly addresses India's SVAMITVA mission (6.6 lakh villages)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</a:t>
            </a:r>
            <a:r>
              <a:rPr sz="800">
                <a:solidFill>
                  <a:srgbClr val="1E293B"/>
                </a:solidFill>
                <a:latin typeface="Arial"/>
              </a:rPr>
              <a:t> SaaS / On-Premise government contracts with State Revenue Depts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F2240"/>
                </a:solidFill>
                <a:latin typeface="Arial"/>
              </a:rPr>
              <a:t>• </a:t>
            </a:r>
            <a:r>
              <a:rPr sz="800">
                <a:solidFill>
                  <a:srgbClr val="1E293B"/>
                </a:solidFill>
                <a:latin typeface="Arial"/>
              </a:rPr>
              <a:t> Municipal property tax assessment &amp; urban corridor 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C5AA0"/>
                </a:solidFill>
                <a:latin typeface="Arial Black"/>
              </a:defRPr>
            </a:pPr>
            <a:r>
              <a:t>Use Cases :-</a:t>
            </a:r>
          </a:p>
          <a:p>
            <a:pPr>
              <a:spcAft>
                <a:spcPts val="1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SVAMITVA Mission: Automated parcel extraction from drone orthoimagery</a:t>
            </a:r>
          </a:p>
          <a:p>
            <a:pPr>
              <a:spcAft>
                <a:spcPts val="1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Municipal Town Planning: Updating property tax cadastre &amp; identifying vacant plots</a:t>
            </a:r>
          </a:p>
          <a:p>
            <a:pPr>
              <a:spcAft>
                <a:spcPts val="1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Agricultural Land Delineation: Farmland plot demarcation &amp; crop subsidy claims</a:t>
            </a:r>
          </a:p>
          <a:p>
            <a:pPr>
              <a:spcAft>
                <a:spcPts val="1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Linear Infrastructure: Land acquisition corridor mapping for NHAI &amp; Railways</a:t>
            </a:r>
          </a:p>
          <a:p>
            <a:pPr>
              <a:spcBef>
                <a:spcPts val="400"/>
              </a:spcBef>
              <a:defRPr sz="1100">
                <a:solidFill>
                  <a:srgbClr val="1C5AA0"/>
                </a:solidFill>
                <a:latin typeface="Arial Black"/>
              </a:defRPr>
            </a:pPr>
            <a:r>
              <a:t>Key Solutions Delivered :-</a:t>
            </a:r>
          </a:p>
          <a:p>
            <a:pPr>
              <a:spcAft>
                <a:spcPts val="1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Continuous Solid Cyan Lines: No dotted lines; 1.8m endpoint snapping</a:t>
            </a:r>
          </a:p>
          <a:p>
            <a:pPr>
              <a:spcAft>
                <a:spcPts val="1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Closed Land Parcels: Metric area (m²) &amp; perimeter (m) calculated automatically</a:t>
            </a:r>
          </a:p>
          <a:p>
            <a:pPr>
              <a:spcAft>
                <a:spcPts val="1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Zero OGC Violations: Real-time ISO 19107 STRtree topology auditing</a:t>
            </a:r>
          </a:p>
          <a:p>
            <a:pPr>
              <a:spcAft>
                <a:spcPts val="1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One-Click CAD/GIS Export: Ready for direct import into QGIS &amp; ArcGIS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114800"/>
            <a:ext cx="5303520" cy="2194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B45309"/>
                </a:solidFill>
                <a:latin typeface="Arial Black"/>
              </a:defRPr>
            </a:pPr>
            <a:r>
              <a:t>SUPPORTING FACTS FOR FEASIBILITY AND VIABILITY</a:t>
            </a:r>
          </a:p>
          <a:p>
            <a:pPr>
              <a:spcBef>
                <a:spcPts val="300"/>
              </a:spcBef>
              <a:defRPr sz="850">
                <a:solidFill>
                  <a:srgbClr val="78350F"/>
                </a:solidFill>
                <a:latin typeface="Arial"/>
              </a:defRPr>
            </a:pPr>
            <a:r>
              <a:t>• Over 65% of all civil court litigation in India is tied to property/boundary disputes.</a:t>
            </a:r>
          </a:p>
          <a:p>
            <a:pPr>
              <a:spcBef>
                <a:spcPts val="300"/>
              </a:spcBef>
              <a:defRPr sz="850">
                <a:solidFill>
                  <a:srgbClr val="78350F"/>
                </a:solidFill>
                <a:latin typeface="Arial"/>
              </a:defRPr>
            </a:pPr>
            <a:r>
              <a:t>• SVAMITVA drone mapping covers 6.6 lakh villages; automated AI cuts drafting time by &gt;80%.</a:t>
            </a:r>
          </a:p>
          <a:p>
            <a:pPr>
              <a:spcBef>
                <a:spcPts val="300"/>
              </a:spcBef>
              <a:defRPr sz="850">
                <a:solidFill>
                  <a:srgbClr val="78350F"/>
                </a:solidFill>
                <a:latin typeface="Arial"/>
              </a:defRPr>
            </a:pPr>
            <a:r>
              <a:t>• Measured production accuracy on 600 held-out test patches: 94.43% pixel accuracy.</a:t>
            </a:r>
          </a:p>
          <a:p>
            <a:pPr>
              <a:spcBef>
                <a:spcPts val="300"/>
              </a:spcBef>
              <a:defRPr sz="850">
                <a:solidFill>
                  <a:srgbClr val="78350F"/>
                </a:solidFill>
                <a:latin typeface="Arial"/>
              </a:defRPr>
            </a:pPr>
            <a:r>
              <a:t>• Topological validation engine achieved 100% VALID geometries across all benchmark tiles.</a:t>
            </a:r>
          </a:p>
          <a:p>
            <a:pPr>
              <a:spcBef>
                <a:spcPts val="300"/>
              </a:spcBef>
              <a:defRPr sz="850">
                <a:solidFill>
                  <a:srgbClr val="78350F"/>
                </a:solidFill>
                <a:latin typeface="Arial"/>
              </a:defRPr>
            </a:pPr>
            <a:r>
              <a:t>• Inference latency: 42 ms on NVIDIA A100 GPU / 110 ms on Apple Silicon MPS.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2240"/>
                </a:solidFill>
                <a:latin typeface="Arial"/>
              </a:defRPr>
            </a:pPr>
            <a:r>
              <a:t>SkyGen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82880"/>
            <a:ext cx="7619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2240"/>
                </a:solidFill>
                <a:latin typeface="Georgia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64592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A580C"/>
                </a:solidFill>
                <a:latin typeface="Arial Black"/>
              </a:defRPr>
            </a:pPr>
            <a:r>
              <a:t>SMART INDIA</a:t>
            </a:r>
          </a:p>
          <a:p>
            <a:pPr algn="r">
              <a:defRPr sz="1000">
                <a:solidFill>
                  <a:srgbClr val="0F2240"/>
                </a:solidFill>
                <a:latin typeface="Arial Black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760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C5AA0"/>
                </a:solidFill>
                <a:latin typeface="Arial Black"/>
              </a:defRPr>
            </a:pPr>
            <a:r>
              <a:t>Potential impact on the target audience:-</a:t>
            </a:r>
          </a:p>
          <a:p>
            <a:r>
              <a:rPr sz="900" b="1">
                <a:solidFill>
                  <a:srgbClr val="0F2240"/>
                </a:solidFill>
                <a:latin typeface="Arial"/>
              </a:rPr>
              <a:t>• Land Revenue Departments:</a:t>
            </a:r>
            <a:r>
              <a:rPr sz="850">
                <a:solidFill>
                  <a:srgbClr val="1E293B"/>
                </a:solidFill>
                <a:latin typeface="Arial"/>
              </a:rPr>
              <a:t>  Eliminates manual digitization backlogs; maps villages in hours instead of months.</a:t>
            </a:r>
          </a:p>
          <a:p>
            <a:r>
              <a:rPr sz="900" b="1">
                <a:solidFill>
                  <a:srgbClr val="0F2240"/>
                </a:solidFill>
                <a:latin typeface="Arial"/>
              </a:rPr>
              <a:t>• Certified Revenue Surveyors:</a:t>
            </a:r>
            <a:r>
              <a:rPr sz="850">
                <a:solidFill>
                  <a:srgbClr val="1E293B"/>
                </a:solidFill>
                <a:latin typeface="Arial"/>
              </a:rPr>
              <a:t>  AI-powered drafting co-pilot; focuses surveyor effort on verification rather than drawing.</a:t>
            </a:r>
          </a:p>
          <a:p>
            <a:r>
              <a:rPr sz="900" b="1">
                <a:solidFill>
                  <a:srgbClr val="0F2240"/>
                </a:solidFill>
                <a:latin typeface="Arial"/>
              </a:rPr>
              <a:t>• Rural &amp; Urban Citizens:</a:t>
            </a:r>
            <a:r>
              <a:rPr sz="850">
                <a:solidFill>
                  <a:srgbClr val="1E293B"/>
                </a:solidFill>
                <a:latin typeface="Arial"/>
              </a:rPr>
              <a:t>  Fast, dispute-free Property Cards (Aadhar for Land) enabling institutional bank loans.</a:t>
            </a:r>
          </a:p>
          <a:p>
            <a:r>
              <a:rPr sz="900" b="1">
                <a:solidFill>
                  <a:srgbClr val="0F2240"/>
                </a:solidFill>
                <a:latin typeface="Arial"/>
              </a:rPr>
              <a:t>• Municipalities &amp; Planners:</a:t>
            </a:r>
            <a:r>
              <a:rPr sz="850">
                <a:solidFill>
                  <a:srgbClr val="1E293B"/>
                </a:solidFill>
                <a:latin typeface="Arial"/>
              </a:rPr>
              <a:t>  Up-to-date cadastral base maps for property tax assessment and infrastructure corridors.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C5AA0"/>
                </a:solidFill>
                <a:latin typeface="Arial Black"/>
              </a:defRPr>
            </a:pPr>
            <a:r>
              <a:t>Unique Outcomes from Our Solution</a:t>
            </a:r>
          </a:p>
          <a:p>
            <a:r>
              <a:rPr sz="900" b="1">
                <a:solidFill>
                  <a:srgbClr val="0F2240"/>
                </a:solidFill>
                <a:latin typeface="Arial"/>
              </a:rPr>
              <a:t>• Massive Speedup:</a:t>
            </a:r>
            <a:r>
              <a:rPr sz="850">
                <a:solidFill>
                  <a:srgbClr val="1E293B"/>
                </a:solidFill>
                <a:latin typeface="Arial"/>
              </a:rPr>
              <a:t>  Turnaround time reduced from weeks to &lt; 150 ms per patch with 1-click execution.</a:t>
            </a:r>
          </a:p>
          <a:p>
            <a:r>
              <a:rPr sz="900" b="1">
                <a:solidFill>
                  <a:srgbClr val="0F2240"/>
                </a:solidFill>
                <a:latin typeface="Arial"/>
              </a:rPr>
              <a:t>• Survey Cost Reduction:</a:t>
            </a:r>
            <a:r>
              <a:rPr sz="850">
                <a:solidFill>
                  <a:srgbClr val="1E293B"/>
                </a:solidFill>
                <a:latin typeface="Arial"/>
              </a:rPr>
              <a:t>  Lowers parcel mapping costs from ₹1,000+ to less than ₹5 per parcel.</a:t>
            </a:r>
          </a:p>
          <a:p>
            <a:r>
              <a:rPr sz="900" b="1">
                <a:solidFill>
                  <a:srgbClr val="0F2240"/>
                </a:solidFill>
                <a:latin typeface="Arial"/>
              </a:rPr>
              <a:t>• Survey-Grade Topology:</a:t>
            </a:r>
            <a:r>
              <a:rPr sz="850">
                <a:solidFill>
                  <a:srgbClr val="1E293B"/>
                </a:solidFill>
                <a:latin typeface="Arial"/>
              </a:rPr>
              <a:t>  Zero self-intersections and zero duplicate lines (ISO 19107 compliant).</a:t>
            </a:r>
          </a:p>
          <a:p>
            <a:r>
              <a:rPr sz="900" b="1">
                <a:solidFill>
                  <a:srgbClr val="0F2240"/>
                </a:solidFill>
                <a:latin typeface="Arial"/>
              </a:rPr>
              <a:t>• Closed Parcel Geometry:</a:t>
            </a:r>
            <a:r>
              <a:rPr sz="850">
                <a:solidFill>
                  <a:srgbClr val="1E293B"/>
                </a:solidFill>
                <a:latin typeface="Arial"/>
              </a:rPr>
              <a:t>  Automated property plot polygonization with metric area (m²) and perimeter (m).</a:t>
            </a:r>
          </a:p>
          <a:p>
            <a:r>
              <a:rPr sz="900" b="1">
                <a:solidFill>
                  <a:srgbClr val="0F2240"/>
                </a:solidFill>
                <a:latin typeface="Arial"/>
              </a:rPr>
              <a:t>• Cross-Region Generalization:</a:t>
            </a:r>
            <a:r>
              <a:rPr sz="850">
                <a:solidFill>
                  <a:srgbClr val="1E293B"/>
                </a:solidFill>
                <a:latin typeface="Arial"/>
              </a:rPr>
              <a:t>  MixStyle feature statistics perturbation prevents regional overfitting.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5AA0"/>
                </a:solidFill>
                <a:latin typeface="Arial Black"/>
              </a:defRPr>
            </a:pPr>
            <a:r>
              <a:t>Benefits of the Solution (Social, Economic, Environmental)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611880"/>
          <a:ext cx="1127729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54880"/>
                <a:gridCol w="4876495"/>
              </a:tblGrid>
              <a:tr h="6629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Benefit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Supporting Example / Measurable Impact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C5AA0"/>
                          </a:solidFill>
                          <a:latin typeface="Arial"/>
                        </a:defRPr>
                      </a:pPr>
                      <a:r>
                        <a:t>Social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Mitigates property disputes &amp; establishes secure land rights</a:t>
                      </a:r>
                      <a:br/>
                      <a:r>
                        <a:t>Empowers rural landowners with formal credit collateral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Land disputes constitute &gt;65% of all civil litigation in India; clear boundaries resolve disputes before entering courts.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C5AA0"/>
                          </a:solidFill>
                          <a:latin typeface="Arial"/>
                        </a:defRPr>
                      </a:pPr>
                      <a:r>
                        <a:t>Economic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Massive survey cost reduction &amp; accelerated land administration</a:t>
                      </a:r>
                      <a:br/>
                      <a:r>
                        <a:t>Enables municipal corporations to broaden property tax bases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Reduces manual digitizing costs from ₹500–₹2,000 to &lt;₹5 per parcel; maps 900 km² dataset in under 1 hour of compute.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C5AA0"/>
                          </a:solidFill>
                          <a:latin typeface="Arial"/>
                        </a:defRPr>
                      </a:pPr>
                      <a:r>
                        <a:t>Environmental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Accurate boundary delineation prevents encroachment into forest reserves</a:t>
                      </a:r>
                      <a:br/>
                      <a:r>
                        <a:t>Optimizes sustainable land use and infrastructure corridor planning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Digitized cadastral boundaries establish clear legal buffer zones around floodplains, wetlands, and conservation reserves.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56032"/>
            <a:ext cx="1645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2240"/>
                </a:solidFill>
                <a:latin typeface="Arial"/>
              </a:defRPr>
            </a:pPr>
            <a:r>
              <a:t>SkyGen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182880"/>
            <a:ext cx="76196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2240"/>
                </a:solidFill>
                <a:latin typeface="Georgia"/>
              </a:defRPr>
            </a:pPr>
            <a: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64592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A580C"/>
                </a:solidFill>
                <a:latin typeface="Arial Black"/>
              </a:defRPr>
            </a:pPr>
            <a:r>
              <a:t>SMART INDIA</a:t>
            </a:r>
          </a:p>
          <a:p>
            <a:pPr algn="r">
              <a:defRPr sz="1000">
                <a:solidFill>
                  <a:srgbClr val="0F2240"/>
                </a:solidFill>
                <a:latin typeface="Arial Black"/>
              </a:defRPr>
            </a:pPr>
            <a:r>
              <a:t>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C5AA0"/>
                </a:solidFill>
                <a:latin typeface="Arial Black"/>
              </a:defRPr>
            </a:pPr>
            <a:r>
              <a:t>• Research Papers:</a:t>
            </a:r>
          </a:p>
          <a:p>
            <a:pPr>
              <a:spcAft>
                <a:spcPts val="200"/>
              </a:spcAft>
              <a:defRPr sz="780">
                <a:solidFill>
                  <a:srgbClr val="1E293B"/>
                </a:solidFill>
                <a:latin typeface="Arial"/>
              </a:defRPr>
            </a:pPr>
            <a:r>
              <a:t>a. Enemark, S., et al., 'Fit-for-Purpose Land Administration: Guiding Principles for Country Implementation,' UN-Habitat / GLTN (2016).</a:t>
            </a:r>
          </a:p>
          <a:p>
            <a:pPr>
              <a:spcAft>
                <a:spcPts val="200"/>
              </a:spcAft>
              <a:defRPr sz="780">
                <a:solidFill>
                  <a:srgbClr val="1E293B"/>
                </a:solidFill>
                <a:latin typeface="Arial"/>
              </a:defRPr>
            </a:pPr>
            <a:r>
              <a:t>b. Crommelinck, S., Bennett, R., et al., 'Large-scale Cadastral Mapping using High-Resolution UAV Imagery: A Review,' ISPRS IJGI (2016).</a:t>
            </a:r>
          </a:p>
          <a:p>
            <a:pPr>
              <a:spcAft>
                <a:spcPts val="200"/>
              </a:spcAft>
              <a:defRPr sz="780">
                <a:solidFill>
                  <a:srgbClr val="1E293B"/>
                </a:solidFill>
                <a:latin typeface="Arial"/>
              </a:defRPr>
            </a:pPr>
            <a:r>
              <a:t>c. Zhou, K., Yang, Y., et al., 'Domain Generalization with MixStyle,' International Conference on Learning Representations (ICLR 2021).</a:t>
            </a:r>
          </a:p>
          <a:p>
            <a:pPr>
              <a:spcAft>
                <a:spcPts val="200"/>
              </a:spcAft>
              <a:defRPr sz="780">
                <a:solidFill>
                  <a:srgbClr val="1E293B"/>
                </a:solidFill>
                <a:latin typeface="Arial"/>
              </a:defRPr>
            </a:pPr>
            <a:r>
              <a:t>d. Zhou, L., Zhang, C., &amp; Wu, M., 'D-LinkNet: LinkNet with Dilated Convolution for Satellite Imagery Road Extraction,' CVPRW (2018).</a:t>
            </a:r>
          </a:p>
          <a:p>
            <a:pPr>
              <a:spcBef>
                <a:spcPts val="400"/>
              </a:spcBef>
              <a:defRPr sz="1100">
                <a:solidFill>
                  <a:srgbClr val="1C5AA0"/>
                </a:solidFill>
                <a:latin typeface="Arial Black"/>
              </a:defRPr>
            </a:pPr>
            <a:r>
              <a:t>• Cadastral &amp; Remote Sensing Benchmarks: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Arial"/>
              </a:defRPr>
            </a:pPr>
            <a:r>
              <a:t>a. Dutch National Land Registry (Kadaster BRK / PDOK): https://www.pdok.nl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Arial"/>
              </a:defRPr>
            </a:pPr>
            <a:r>
              <a:t>b. Survey of India (SVAMITVA Drone Scheme): https://svamitva.nic.in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  <a:latin typeface="Arial"/>
              </a:defRPr>
            </a:pPr>
            <a:r>
              <a:t>c. OpenStreetMap Cadastral Guidelines: https://wiki.openstreetmap.org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77639"/>
            <a:ext cx="5486400" cy="1188720"/>
          </a:xfrm>
          <a:prstGeom prst="roundRect">
            <a:avLst/>
          </a:prstGeom>
          <a:solidFill>
            <a:srgbClr val="E6F2FF"/>
          </a:solidFill>
          <a:ln w="19050">
            <a:solidFill>
              <a:srgbClr val="1C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2240"/>
                </a:solidFill>
                <a:latin typeface="Arial Black"/>
              </a:defRPr>
            </a:pPr>
            <a:r>
              <a:t>• Project Links Demo:-</a:t>
            </a:r>
          </a:p>
          <a:p>
            <a:pPr>
              <a:defRPr sz="950" b="1">
                <a:solidFill>
                  <a:srgbClr val="1C5AA0"/>
                </a:solidFill>
                <a:latin typeface="Arial"/>
              </a:defRPr>
            </a:pPr>
            <a:r>
              <a:t>• Github: https://github.com/SkyGen/CadastreVision</a:t>
            </a:r>
          </a:p>
          <a:p>
            <a:pPr>
              <a:defRPr sz="950" b="1">
                <a:solidFill>
                  <a:srgbClr val="0D9488"/>
                </a:solidFill>
                <a:latin typeface="Arial"/>
              </a:defRPr>
            </a:pPr>
            <a:r>
              <a:t>• Demo Live Prototype : https://cadastre.skygen.site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005840"/>
          <a:ext cx="55778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68680"/>
                <a:gridCol w="868680"/>
                <a:gridCol w="868680"/>
                <a:gridCol w="868680"/>
              </a:tblGrid>
              <a:tr h="46228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Feature / Capability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Our Platform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Manual DGPS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Generic AI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 Black"/>
                        </a:defRPr>
                      </a:pPr>
                      <a:r>
                        <a:t>ArcGIS Pro</a:t>
                      </a:r>
                    </a:p>
                  </a:txBody>
                  <a:tcPr anchor="ctr">
                    <a:solidFill>
                      <a:srgbClr val="0F2240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 Sub-Meter Boundary Line Extraction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2. Continuous Solid Lines (No Dots)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3. Closed Parcel Extraction (Area m²)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4. Automated ISO 19107 Topology Audit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5. MixStyle Domain Generalization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6. 8-Way Directional Connectivity 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7. Zero-Install WebGIS Interface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DC2626"/>
                          </a:solidFill>
                          <a:latin typeface="Arial"/>
                        </a:defRPr>
                      </a:pPr>
                      <a:r>
                        <a:t>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8. Survey Turnaround per Patch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6A34A"/>
                          </a:solidFill>
                          <a:latin typeface="Arial"/>
                        </a:defRPr>
                      </a:pPr>
                      <a:r>
                        <a:t>&lt;150ms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Seconds*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Arial"/>
                        </a:defRPr>
                      </a:pPr>
                      <a:r>
                        <a:t>Minutes*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303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5AA0"/>
                </a:solidFill>
                <a:latin typeface="Arial Black"/>
              </a:defRPr>
            </a:pPr>
            <a:r>
              <a:t>• Research Flow: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623560"/>
            <a:ext cx="1280160" cy="640080"/>
          </a:xfrm>
          <a:prstGeom prst="roundRect">
            <a:avLst/>
          </a:prstGeom>
          <a:solidFill>
            <a:srgbClr val="1C5A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Problem</a:t>
            </a:r>
            <a:br/>
            <a:r>
              <a:t>Identification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5623560"/>
            <a:ext cx="1280160" cy="640080"/>
          </a:xfrm>
          <a:prstGeom prst="roundRect">
            <a:avLst/>
          </a:prstGeom>
          <a:solidFill>
            <a:srgbClr val="1C5A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Literature &amp;</a:t>
            </a:r>
            <a:br/>
            <a:r>
              <a:t>Remote Sensing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6976" y="5623560"/>
            <a:ext cx="1280160" cy="640080"/>
          </a:xfrm>
          <a:prstGeom prst="roundRect">
            <a:avLst/>
          </a:prstGeom>
          <a:solidFill>
            <a:srgbClr val="1C5A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Gap</a:t>
            </a:r>
            <a:br/>
            <a:r>
              <a:t>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26864" y="5623560"/>
            <a:ext cx="1280160" cy="640080"/>
          </a:xfrm>
          <a:prstGeom prst="roundRect">
            <a:avLst/>
          </a:prstGeom>
          <a:solidFill>
            <a:srgbClr val="1C5A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Model &amp; Loss</a:t>
            </a:r>
            <a:br/>
            <a:r>
              <a:t>Exploration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16752" y="5623560"/>
            <a:ext cx="1280160" cy="640080"/>
          </a:xfrm>
          <a:prstGeom prst="roundRect">
            <a:avLst/>
          </a:prstGeom>
          <a:solidFill>
            <a:srgbClr val="1C5A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Validation &amp;</a:t>
            </a:r>
            <a:br/>
            <a:r>
              <a:t>Feasibility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5623560"/>
            <a:ext cx="1280160" cy="640080"/>
          </a:xfrm>
          <a:prstGeom prst="roundRect">
            <a:avLst/>
          </a:prstGeom>
          <a:solidFill>
            <a:srgbClr val="1C5A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Proposed</a:t>
            </a:r>
            <a:br/>
            <a:r>
              <a:t>Solution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96528" y="5623560"/>
            <a:ext cx="1280160" cy="640080"/>
          </a:xfrm>
          <a:prstGeom prst="roundRect">
            <a:avLst/>
          </a:prstGeom>
          <a:solidFill>
            <a:srgbClr val="1C5AA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Final Research</a:t>
            </a:r>
            <a:br/>
            <a:r>
              <a:t>Outcome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6416" y="5623560"/>
            <a:ext cx="1280160" cy="64008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CadastreVision</a:t>
            </a:r>
            <a:br/>
            <a:r>
              <a:t>Ecosystem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